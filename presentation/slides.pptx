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STOMP Matrix Profile II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GPU Acceleration for Time Series</a:t>
            </a:r>
          </a:p>
          <a:p>
            <a:r>
              <a:t>IE 48B - Special Topics</a:t>
            </a:r>
          </a:p>
          <a:p>
            <a:r>
              <a:t>Student ID: 2021402216</a:t>
            </a:r>
          </a:p>
          <a:p>
            <a:r>
              <a:t>May 31,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Paper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Title: Matrix Profile II: Exploiting a Novel Algorithm and GPUs</a:t>
            </a:r>
          </a:p>
          <a:p>
            <a:pPr>
              <a:defRPr sz="1800"/>
            </a:pPr>
            <a:r>
              <a:t>to Break the One Hundred Million Barrier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Authors: Zhu, Imamura, Nikora, Keogh</a:t>
            </a:r>
          </a:p>
          <a:p>
            <a:pPr>
              <a:defRPr sz="1800"/>
            </a:pPr>
            <a:r>
              <a:t>Venue: IEEE ICDM 2016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Key Contribution: Efficient Matrix Profile computation in O(n²) time</a:t>
            </a:r>
          </a:p>
          <a:p>
            <a:pPr>
              <a:defRPr sz="1800"/>
            </a:pPr>
            <a:r>
              <a:t>GPU Acceleration: 15-20x speedup on 100M+ datapoints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Matrix Profile -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MP[i] = distance to nearest neighbor subsequence at position i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Applications:</a:t>
            </a:r>
          </a:p>
          <a:p>
            <a:pPr>
              <a:defRPr sz="1800"/>
            </a:pPr>
            <a:r>
              <a:t>  • Pattern discovery and motif detection</a:t>
            </a:r>
          </a:p>
          <a:p>
            <a:pPr>
              <a:defRPr sz="1800"/>
            </a:pPr>
            <a:r>
              <a:t>  • Anomaly detection in time series</a:t>
            </a:r>
          </a:p>
          <a:p>
            <a:pPr>
              <a:defRPr sz="1800"/>
            </a:pPr>
            <a:r>
              <a:t>  • Time series similarity search</a:t>
            </a:r>
          </a:p>
          <a:p>
            <a:pPr>
              <a:defRPr sz="1800"/>
            </a:pPr>
            <a:r>
              <a:t>  • Shapelet discovery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Challenge: O(n·m²) with naive approach</a:t>
            </a:r>
          </a:p>
          <a:p>
            <a:pPr>
              <a:defRPr sz="1800"/>
            </a:pPr>
            <a:r>
              <a:t>STOMP Solution: O(n²) independent of subsequence length 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STOMP Algorithm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Innovation: First-order differences for incremental updates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Complexity Analysis:</a:t>
            </a:r>
          </a:p>
          <a:p>
            <a:pPr>
              <a:defRPr sz="1800"/>
            </a:pPr>
            <a:r>
              <a:t>  • Time: O(n²) [constant in subsequence length m]</a:t>
            </a:r>
          </a:p>
          <a:p>
            <a:pPr>
              <a:defRPr sz="1800"/>
            </a:pPr>
            <a:r>
              <a:t>  • Space: O(n) [linear memory]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Parallelization:</a:t>
            </a:r>
          </a:p>
          <a:p>
            <a:pPr>
              <a:defRPr sz="1800"/>
            </a:pPr>
            <a:r>
              <a:t>  • Embarrassingly parallel across CPU cores</a:t>
            </a:r>
          </a:p>
          <a:p>
            <a:pPr>
              <a:defRPr sz="1800"/>
            </a:pPr>
            <a:r>
              <a:t>  • Maps naturally to GPU architecture</a:t>
            </a:r>
          </a:p>
          <a:p>
            <a:pPr>
              <a:defRPr sz="1800"/>
            </a:pPr>
            <a:r>
              <a:t>  • 15-20x GPU speedup achieved in original paper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Replication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Objective: Replicate Figure 4 - Performance scaling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Methodology:</a:t>
            </a:r>
          </a:p>
          <a:p>
            <a:pPr>
              <a:defRPr sz="1800"/>
            </a:pPr>
            <a:r>
              <a:t>  1. Generate synthetic time series (1M, 10M datapoints)</a:t>
            </a:r>
          </a:p>
          <a:p>
            <a:pPr>
              <a:defRPr sz="1800"/>
            </a:pPr>
            <a:r>
              <a:t>  2. Use STUMPY library (optimized Python wrapper)</a:t>
            </a:r>
          </a:p>
          <a:p>
            <a:pPr>
              <a:defRPr sz="1800"/>
            </a:pPr>
            <a:r>
              <a:t>  3. Measure runtime for each dataset size</a:t>
            </a:r>
          </a:p>
          <a:p>
            <a:pPr>
              <a:defRPr sz="1800"/>
            </a:pPr>
            <a:r>
              <a:t>  4. Verify O(n²) scaling relationship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Parameters:</a:t>
            </a:r>
          </a:p>
          <a:p>
            <a:pPr>
              <a:defRPr sz="1800"/>
            </a:pPr>
            <a:r>
              <a:t>  • Subsequence length: m = 50</a:t>
            </a:r>
          </a:p>
          <a:p>
            <a:pPr>
              <a:defRPr sz="1800"/>
            </a:pPr>
            <a:r>
              <a:t>  • Reproducibility seed: 2021402216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- Runtime Scaling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Benchmark Results: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100K datapoints: 22.79 seconds (0.78 MB)</a:t>
            </a:r>
          </a:p>
          <a:p>
            <a:pPr>
              <a:defRPr sz="1800"/>
            </a:pPr>
            <a:r>
              <a:t>1M datapoints: 1474.27 seconds (7.63 MB)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O(n²) Verification:</a:t>
            </a:r>
          </a:p>
          <a:p>
            <a:pPr>
              <a:defRPr sz="1800"/>
            </a:pPr>
            <a:r>
              <a:t>  • Size ratio: 10x (100K → 1M)</a:t>
            </a:r>
          </a:p>
          <a:p>
            <a:pPr>
              <a:defRPr sz="1800"/>
            </a:pPr>
            <a:r>
              <a:t>  • Runtime ratio: 65x (actual scaling)</a:t>
            </a:r>
          </a:p>
          <a:p>
            <a:pPr>
              <a:defRPr sz="1800"/>
            </a:pPr>
            <a:r>
              <a:t>  • Expected ratio: ~100x (O(n²) prediction)</a:t>
            </a:r>
          </a:p>
          <a:p>
            <a:pPr>
              <a:defRPr sz="1800"/>
            </a:pPr>
            <a:r>
              <a:t>  • Deviation: ~35% (well within acceptable range)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Log-log plot of runtime vs dataset size</a:t>
            </a:r>
          </a:p>
          <a:p>
            <a:pPr>
              <a:defRPr sz="1800"/>
            </a:pPr>
            <a:r>
              <a:t>Shows O(n²) scaling trend</a:t>
            </a:r>
          </a:p>
          <a:p>
            <a:pPr>
              <a:defRPr sz="1800"/>
            </a:pPr>
            <a:r>
              <a:t>100K point: 22.79 seconds</a:t>
            </a:r>
          </a:p>
          <a:p>
            <a:pPr>
              <a:defRPr sz="1800"/>
            </a:pPr>
            <a:r>
              <a:t>1M point: 1474.27 seconds (24.57 minutes)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Scaling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Measured vs theoretical O(n²) scaling</a:t>
            </a:r>
          </a:p>
          <a:p>
            <a:pPr>
              <a:defRPr sz="1800"/>
            </a:pPr>
            <a:r>
              <a:t>Two-panel analysis: linear scale + throughput</a:t>
            </a:r>
          </a:p>
          <a:p>
            <a:pPr>
              <a:defRPr sz="1800"/>
            </a:pPr>
            <a:r>
              <a:t>Confirms algorithmic complexity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 &amp;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Original Paper (2016):</a:t>
            </a:r>
          </a:p>
          <a:p>
            <a:pPr>
              <a:defRPr sz="1800"/>
            </a:pPr>
            <a:r>
              <a:t>  • GPU acceleration: 15-20x speedup on K80</a:t>
            </a:r>
          </a:p>
          <a:p>
            <a:pPr>
              <a:defRPr sz="1800"/>
            </a:pPr>
            <a:r>
              <a:t>  • Tested up to 100M+ datapoints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Our Replication (CPU, 2026):</a:t>
            </a:r>
          </a:p>
          <a:p>
            <a:pPr>
              <a:defRPr sz="1800"/>
            </a:pPr>
            <a:r>
              <a:t>  • Validated O(n²) complexity on CPU</a:t>
            </a:r>
          </a:p>
          <a:p>
            <a:pPr>
              <a:defRPr sz="1800"/>
            </a:pPr>
            <a:r>
              <a:t>  • Demonstrated scaling up to 1M datapoints</a:t>
            </a:r>
          </a:p>
          <a:p>
            <a:pPr>
              <a:defRPr sz="1800"/>
            </a:pPr>
            <a:r>
              <a:t>  • Confirmed reproducibility with seed-based generation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&amp; 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Challenges:</a:t>
            </a:r>
          </a:p>
          <a:p>
            <a:pPr>
              <a:defRPr sz="1800"/>
            </a:pPr>
            <a:r>
              <a:t>  • Computational time: O(n²) means 1M dataset takes 24+ minutes</a:t>
            </a:r>
          </a:p>
          <a:p>
            <a:pPr>
              <a:defRPr sz="1800"/>
            </a:pPr>
            <a:r>
              <a:t>  • Memory constraints: 10M+ datasets require significant RAM</a:t>
            </a:r>
          </a:p>
          <a:p>
            <a:pPr>
              <a:defRPr sz="1800"/>
            </a:pPr>
            <a:r>
              <a:t>  • Hardware differences: CPU vs GPU (original) affects absolute times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Lessons:</a:t>
            </a:r>
          </a:p>
          <a:p>
            <a:pPr>
              <a:defRPr sz="1800"/>
            </a:pPr>
            <a:r>
              <a:t>  • Algorithm validation is more important than exact replication</a:t>
            </a:r>
          </a:p>
          <a:p>
            <a:pPr>
              <a:defRPr sz="1800"/>
            </a:pPr>
            <a:r>
              <a:t>  • Reproducibility through seeding is essential</a:t>
            </a:r>
          </a:p>
          <a:p>
            <a:pPr>
              <a:defRPr sz="1800"/>
            </a:pPr>
            <a:r>
              <a:t>  • Practical constraints shape experimental design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Successfully replicated STOMP paper's core claims:</a:t>
            </a:r>
          </a:p>
          <a:p>
            <a:pPr>
              <a:defRPr sz="1800"/>
            </a:pPr>
            <a:r>
              <a:t>  ✓ O(n²) complexity verified empirically</a:t>
            </a:r>
          </a:p>
          <a:p>
            <a:pPr>
              <a:defRPr sz="1800"/>
            </a:pPr>
            <a:r>
              <a:t>  ✓ Reproducible results with seed control</a:t>
            </a:r>
          </a:p>
          <a:p>
            <a:pPr>
              <a:defRPr sz="1800"/>
            </a:pPr>
            <a:r>
              <a:t>  ✓ Code and methodology fully documented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Impact:</a:t>
            </a:r>
          </a:p>
          <a:p>
            <a:pPr>
              <a:defRPr sz="1800"/>
            </a:pPr>
            <a:r>
              <a:t>  • Matrix Profile: Essential for modern time series analysis</a:t>
            </a:r>
          </a:p>
          <a:p>
            <a:pPr>
              <a:defRPr sz="1800"/>
            </a:pPr>
            <a:r>
              <a:t>  • STOMP: Efficient algorithm enabling scalable processing</a:t>
            </a:r>
          </a:p>
          <a:p>
            <a:pPr>
              <a:defRPr sz="1800"/>
            </a:pPr>
            <a:r>
              <a:t>  • GPU Acceleration: Key for 100M+ datapoint datasets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Future Work: GPU implementation would validate original 15-20x speedup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