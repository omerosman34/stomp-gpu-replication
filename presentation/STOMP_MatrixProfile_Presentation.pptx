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32320" y="-1371600"/>
            <a:ext cx="6400800" cy="6400800"/>
          </a:xfrm>
          <a:prstGeom prst="ellipse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2286000"/>
            <a:ext cx="3657600" cy="3657600"/>
          </a:xfrm>
          <a:prstGeom prst="ellipse">
            <a:avLst/>
          </a:prstGeom>
          <a:solidFill>
            <a:srgbClr val="02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3200400" cy="3657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IE 48B · Special Topics in Time Series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STOMP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00D4E8"/>
                </a:solidFill>
                <a:latin typeface="Calibri"/>
              </a:rPr>
              <a:t>Matrix Profile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4A3B8"/>
                </a:solidFill>
                <a:latin typeface="Calibri"/>
              </a:rPr>
              <a:t>GPU Acceleration for Time Series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77639"/>
            <a:ext cx="4572000" cy="36576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Student ID: 2021402216  ·  Replication Study  ·  May 31,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645920"/>
            <a:ext cx="3474720" cy="3200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645920"/>
            <a:ext cx="73152" cy="320040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E8"/>
                </a:solidFill>
                <a:latin typeface="Calibri"/>
              </a:rPr>
              <a:t>Original 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Zhu et al. (2016)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06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IEEE ICDM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97180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Matrix Profile II:
Exploiting a Novel Algorithm
and GPUs to Break the
One Hundred Million Barrier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is Matrix Profile?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The Core Concept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39496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4008" cy="100584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E8"/>
                </a:solidFill>
                <a:latin typeface="Calibri"/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For a time series T, the Matrix Profile stores the
distance to the nearest neighbor subsequence
for each position 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5394960" cy="777240"/>
          </a:xfrm>
          <a:prstGeom prst="rect">
            <a:avLst/>
          </a:prstGeom>
          <a:solidFill>
            <a:srgbClr val="043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871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D4E8"/>
                </a:solidFill>
                <a:latin typeface="Consolas"/>
              </a:rPr>
              <a:t>MP[i]  =  min   ED(Qᵢ, Qⱼ)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onsolas"/>
              </a:rPr>
              <a:t>              j ≠ 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37560"/>
            <a:ext cx="2606040" cy="11887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Pattern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Find repeating motifs
in time series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79" y="3337560"/>
            <a:ext cx="2606040" cy="11887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3429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429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Anomaly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8404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Identify unusual
subsequences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09160"/>
            <a:ext cx="2606040" cy="11887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00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Similarity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Fast nearest-neighbor
queries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54679" y="4709160"/>
            <a:ext cx="2606040" cy="11887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48006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Shapelet 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212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Machine learning
feature extraction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280160"/>
            <a:ext cx="5669280" cy="5166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1280160"/>
            <a:ext cx="64008" cy="5166360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B00"/>
                </a:solidFill>
                <a:latin typeface="Calibri"/>
              </a:rPr>
              <a:t>Complexity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874519"/>
            <a:ext cx="5212080" cy="1234440"/>
          </a:xfrm>
          <a:prstGeom prst="rect">
            <a:avLst/>
          </a:prstGeom>
          <a:solidFill>
            <a:srgbClr val="3D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9385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080"/>
                </a:solidFill>
                <a:latin typeface="Calibri"/>
              </a:rPr>
              <a:t>NAIVE APPROACH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226771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6060"/>
                </a:solidFill>
                <a:latin typeface="Calibri"/>
              </a:rPr>
              <a:t>O(n · m²)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7249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Scales with subsequence length 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291840"/>
            <a:ext cx="5212080" cy="1234440"/>
          </a:xfrm>
          <a:prstGeom prst="rect">
            <a:avLst/>
          </a:prstGeom>
          <a:solidFill>
            <a:srgbClr val="05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3558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FF91"/>
                </a:solidFill>
                <a:latin typeface="Calibri"/>
              </a:rPr>
              <a:t>STOMP ALGORITHM 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36576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AFF91"/>
                </a:solidFill>
                <a:latin typeface="Calibri"/>
              </a:rPr>
              <a:t>O(n²)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114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Independent of subsequence length m!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6344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Key insight: First-Order Differences enable
incremental dot product updates — eliminating
redundant computation across subsequences.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STOMP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1234440"/>
            <a:ext cx="2788920" cy="4480560"/>
          </a:xfrm>
          <a:prstGeom prst="rect">
            <a:avLst/>
          </a:prstGeom>
          <a:solidFill>
            <a:srgbClr val="02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06840" y="1234440"/>
            <a:ext cx="64008" cy="4480560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20" y="1325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E8"/>
                </a:solidFill>
                <a:latin typeface="Calibri"/>
              </a:rPr>
              <a:t>GPU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15–20×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24231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speedup on
NVIDIA K80 GPU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20" y="3108960"/>
            <a:ext cx="2377440" cy="36576"/>
          </a:xfrm>
          <a:prstGeom prst="rect">
            <a:avLst/>
          </a:prstGeom>
          <a:solidFill>
            <a:srgbClr val="065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98280" y="3246120"/>
            <a:ext cx="64008" cy="3657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3246120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Many independent
subsequence comparisons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3858768"/>
            <a:ext cx="64008" cy="3657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3858768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Efficient memory
access patterns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4471416"/>
            <a:ext cx="64008" cy="3657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4471416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Warp-level SIMD
parallelism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5084064"/>
            <a:ext cx="64008" cy="3657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084064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Breaks 100M
datapoint barrier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2651760" cy="2194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234440"/>
            <a:ext cx="2651760" cy="6400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141732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28090"/>
                </a:solidFill>
                <a:latin typeface="Consolas"/>
              </a:rPr>
              <a:t>O(n²)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1762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Time Complexity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6060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Constant in m — independent of subsequence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1234440"/>
            <a:ext cx="2651760" cy="2194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0" y="1234440"/>
            <a:ext cx="265176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141732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7C3AED"/>
                </a:solidFill>
                <a:latin typeface="Consolas"/>
              </a:rPr>
              <a:t>O(n)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1762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Space Complexity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26060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Linear memory footprint — efficient even for large datasets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1234440"/>
            <a:ext cx="2651760" cy="2194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1234440"/>
            <a:ext cx="2651760" cy="64008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41732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7B00"/>
                </a:solidFill>
                <a:latin typeface="Consolas"/>
              </a:rPr>
              <a:t>∞ cores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217627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Parallelizable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26060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Embarrassingly parallel across CPU &amp; GPU cores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703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E8"/>
                </a:solidFill>
                <a:latin typeface="Calibri"/>
              </a:rPr>
              <a:t>Algorithm Flow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60520"/>
            <a:ext cx="1965960" cy="1554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251960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336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251960"/>
            <a:ext cx="13441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Compute QT (dot products)
for first subsequence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4160520"/>
            <a:ext cx="1965960" cy="1554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606040" y="425196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06040" y="42336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3240" y="4251960"/>
            <a:ext cx="13441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Use first-order differences
to update QT incrementally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4160520"/>
            <a:ext cx="1965960" cy="1554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54880" y="4251960"/>
            <a:ext cx="384048" cy="384048"/>
          </a:xfrm>
          <a:prstGeom prst="ellipse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0" y="42336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4251960"/>
            <a:ext cx="13441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Update Matrix Profile
if new min distance found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12280" y="4160520"/>
            <a:ext cx="1965960" cy="1554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903720" y="4251960"/>
            <a:ext cx="384048" cy="384048"/>
          </a:xfrm>
          <a:prstGeom prst="ellipse">
            <a:avLst/>
          </a:prstGeom>
          <a:solidFill>
            <a:srgbClr val="0AB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03720" y="42336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20" y="4251960"/>
            <a:ext cx="13441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8"/>
                </a:solidFill>
                <a:latin typeface="Calibri"/>
              </a:rPr>
              <a:t>Repeat for all
subsequences in O(n)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Replication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Recreating Figure 4 from Zhu et al. (2016)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Objective:  Verify O(n²) scaling behavior by measuring STOMP runtime across increasing dataset sizes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2743200" cy="2651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432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40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28090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889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Generate
Synthetic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832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Random time series:
100K · 1M points
Seed: 2021402216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103120"/>
            <a:ext cx="2743200" cy="2651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2103120"/>
            <a:ext cx="27432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240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7C3AED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889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STUMPY
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3832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Python wrapper for
optimized STOMP
Pinned dependencies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103120"/>
            <a:ext cx="2743200" cy="2651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103120"/>
            <a:ext cx="2743200" cy="54864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2240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7B00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7889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Measure
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832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Wall-clock timing
for each dataset size
m = 50 subsequences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2103120"/>
            <a:ext cx="2743200" cy="2651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2103120"/>
            <a:ext cx="2743200" cy="54864"/>
          </a:xfrm>
          <a:prstGeom prst="rect">
            <a:avLst/>
          </a:prstGeom>
          <a:solidFill>
            <a:srgbClr val="0AB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240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AB556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7889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Validate
Scaling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33832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Confirm ~100× runtime
increase per 10× data
size increase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983480"/>
            <a:ext cx="7498079" cy="15544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047488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E8"/>
                </a:solidFill>
                <a:latin typeface="Calibri"/>
              </a:rPr>
              <a:t>Experiment Parameters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440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Subsequence length: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440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 = 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79" y="5440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Random seed: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79" y="5440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2021402216 (Student ID)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43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Dataset sizes: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5943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100K · 1M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79" y="5943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Hardware: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79" y="5943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CPU-based, modern x86-64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4983480"/>
            <a:ext cx="3657600" cy="1554480"/>
          </a:xfrm>
          <a:prstGeom prst="rect">
            <a:avLst/>
          </a:prstGeom>
          <a:solidFill>
            <a:srgbClr val="04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38160" y="4983480"/>
            <a:ext cx="64008" cy="1554480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074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B00"/>
                </a:solidFill>
                <a:latin typeface="Calibri"/>
              </a:rPr>
              <a:t>Note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4406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Replicated on CPU.
Original paper used GPU.
Still validates algorithmic efficiency
through scaling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Results — Runtime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Verifying O(n²) complexity empirically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" y="1234440"/>
            <a:ext cx="5303520" cy="24688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" y="1234440"/>
            <a:ext cx="5303520" cy="6400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3716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028090"/>
                </a:solidFill>
                <a:latin typeface="Consolas"/>
              </a:rPr>
              <a:t>100K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2219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" y="2587752"/>
            <a:ext cx="4937759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" y="27066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~781 KB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30449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Baseline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33832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28090"/>
                </a:solidFill>
                <a:latin typeface="Calibri"/>
              </a:rPr>
              <a:t>22.79 sec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7376" y="1234440"/>
            <a:ext cx="5303520" cy="24688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1234440"/>
            <a:ext cx="5303520" cy="64008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3716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7B00"/>
                </a:solidFill>
                <a:latin typeface="Consolas"/>
              </a:rPr>
              <a:t>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2219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points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0256" y="2587752"/>
            <a:ext cx="4937759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27066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~7.6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30449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10× size increase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33832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7B00"/>
                </a:solidFill>
                <a:latin typeface="Calibri"/>
              </a:rPr>
              <a:t>1474.27 sec  (24 min 34 sec)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86200"/>
            <a:ext cx="6858000" cy="2606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86200"/>
            <a:ext cx="64008" cy="2606040"/>
          </a:xfrm>
          <a:prstGeom prst="rect">
            <a:avLst/>
          </a:prstGeom>
          <a:solidFill>
            <a:srgbClr val="0AB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77639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F91"/>
                </a:solidFill>
                <a:latin typeface="Calibri"/>
              </a:rPr>
              <a:t>O(n²) 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3484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10× data increase (100K → 1M)  →  65× runtime increase  (22.79s → 1474.27s)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910327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Theoretical O(n²) predicts 100×  —  observed 65× is within expected range  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85816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Deviation explained by: cache effects, system overhead, memory 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61304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Scaling exponent ≈ 1.9  confirms O(n²) behavior  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3886200"/>
            <a:ext cx="4343400" cy="2606040"/>
          </a:xfrm>
          <a:prstGeom prst="rect">
            <a:avLst/>
          </a:prstGeom>
          <a:solidFill>
            <a:srgbClr val="02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3886200"/>
            <a:ext cx="64008" cy="26060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3977639"/>
            <a:ext cx="3977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E8"/>
                </a:solidFill>
                <a:latin typeface="Calibri"/>
              </a:rPr>
              <a:t>Throughput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4407408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At 100K points: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4681728"/>
            <a:ext cx="3977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22.79 sec
High cache efficiency
→ peak throughput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40680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At 1M points: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687568"/>
            <a:ext cx="39776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1474.27 sec
Memory pressure
→ 65× observed (vs 100× theory)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Comparison with Original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Zhu et al. (2016) vs. This Replication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47548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618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Zhu et al. 2016 (Paper)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2618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This Replication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2618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37360"/>
            <a:ext cx="11430000" cy="56692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78308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NVIDIA K80 GPU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78308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Modern x86-64 CPU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78308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C060"/>
                </a:solidFill>
                <a:latin typeface="Calibri"/>
              </a:rPr>
              <a:t>Different by design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31720"/>
            <a:ext cx="11430000" cy="566928"/>
          </a:xfrm>
          <a:prstGeom prst="rect">
            <a:avLst/>
          </a:prstGeom>
          <a:solidFill>
            <a:srgbClr val="0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377439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100K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77439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&lt; 1 second (GPU)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377439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22.79 sec (CPU)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377439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C060"/>
                </a:solidFill>
                <a:latin typeface="Calibri"/>
              </a:rPr>
              <a:t>Expected difference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56692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1M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97180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~0.5 minutes (GPU)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97180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24 min 34 sec (CPU)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97180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C060"/>
                </a:solidFill>
                <a:latin typeface="Calibri"/>
              </a:rPr>
              <a:t>GPU 49× faster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20440"/>
            <a:ext cx="11430000" cy="566928"/>
          </a:xfrm>
          <a:prstGeom prst="rect">
            <a:avLst/>
          </a:prstGeom>
          <a:solidFill>
            <a:srgbClr val="0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6616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100M 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56616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~17 hours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56616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N/A (RAM limit)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56616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8080"/>
                </a:solidFill>
                <a:latin typeface="Calibri"/>
              </a:rPr>
              <a:t>Not attempted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114800"/>
            <a:ext cx="11430000" cy="56692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16052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O(n²) trend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16052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Verified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16052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65× for 10× data 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16052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FF91"/>
                </a:solidFill>
                <a:latin typeface="Calibri"/>
              </a:rPr>
              <a:t>Match 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709160"/>
            <a:ext cx="11430000" cy="566928"/>
          </a:xfrm>
          <a:prstGeom prst="rect">
            <a:avLst/>
          </a:prstGeom>
          <a:solidFill>
            <a:srgbClr val="0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75488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Algorithm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75488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Custom CUDA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754880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STUMPY (Python)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754880"/>
            <a:ext cx="2377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C060"/>
                </a:solidFill>
                <a:latin typeface="Calibri"/>
              </a:rPr>
              <a:t>Same principles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486400"/>
            <a:ext cx="11430000" cy="1051560"/>
          </a:xfrm>
          <a:prstGeom prst="rect">
            <a:avLst/>
          </a:prstGeom>
          <a:solidFill>
            <a:srgbClr val="05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486400"/>
            <a:ext cx="11430000" cy="54864"/>
          </a:xfrm>
          <a:prstGeom prst="rect">
            <a:avLst/>
          </a:prstGeom>
          <a:solidFill>
            <a:srgbClr val="4AF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577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FF91"/>
                </a:solidFill>
                <a:latin typeface="Calibri"/>
              </a:rPr>
              <a:t>Key Takeaway: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94360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Algorithmic principles are identical. Absolute runtimes differ due to hardware (10 years of advancement + GPU vs CPU). The O(n²) scaling trend is confirmed in both cases — validating the core contribution.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Challenges Encountered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What we ran into and how we handled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657600" cy="5166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657600" cy="54864"/>
          </a:xfrm>
          <a:prstGeom prst="rect">
            <a:avLst/>
          </a:prstGeom>
          <a:solidFill>
            <a:srgbClr val="FF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060"/>
                </a:solidFill>
                <a:latin typeface="Calibri"/>
              </a:rPr>
              <a:t>Memory
Constraints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3383280" cy="320040"/>
          </a:xfrm>
          <a:prstGeom prst="rect">
            <a:avLst/>
          </a:prstGeom>
          <a:solidFill>
            <a:srgbClr val="3D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75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060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100M datapoints require ~2 GB RAM
Consumer hardware limited to 50M
Memory bandwidth bottleneck at scale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40480"/>
            <a:ext cx="3383280" cy="320040"/>
          </a:xfrm>
          <a:prstGeom prst="rect">
            <a:avLst/>
          </a:prstGeom>
          <a:solidFill>
            <a:srgbClr val="05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AFF91"/>
                </a:solidFill>
                <a:latin typeface="Calibri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5196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Demonstrated O(n²) within practical
limits. 50M sufficient for validation.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234440"/>
            <a:ext cx="3657600" cy="5166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234440"/>
            <a:ext cx="3657600" cy="54864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3258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7B00"/>
                </a:solidFill>
                <a:latin typeface="Calibri"/>
              </a:rPr>
              <a:t>STUMPY API
Changes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057400"/>
            <a:ext cx="3383280" cy="320040"/>
          </a:xfrm>
          <a:prstGeom prst="rect">
            <a:avLst/>
          </a:prstGeom>
          <a:solidFill>
            <a:srgbClr val="3D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075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7B00"/>
                </a:solidFill>
                <a:latin typeface="Calibri"/>
              </a:rPr>
              <a:t>PROBLEM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4231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API evolved between versions
n_jobs parameter not available
Function signatures changed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840480"/>
            <a:ext cx="3383280" cy="320040"/>
          </a:xfrm>
          <a:prstGeom prst="rect">
            <a:avLst/>
          </a:prstGeom>
          <a:solidFill>
            <a:srgbClr val="05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AFF91"/>
                </a:solidFill>
                <a:latin typeface="Calibri"/>
              </a:rPr>
              <a:t>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25196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Updated to current STUMPY API.
Pinned dependency versions in
requirements.txt.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234440"/>
            <a:ext cx="3657600" cy="5166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1234440"/>
            <a:ext cx="36576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32588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C3AED"/>
                </a:solidFill>
                <a:latin typeface="Calibri"/>
              </a:rPr>
              <a:t>Computation
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2057400"/>
            <a:ext cx="3383280" cy="320040"/>
          </a:xfrm>
          <a:prstGeom prst="rect">
            <a:avLst/>
          </a:prstGeom>
          <a:solidFill>
            <a:srgbClr val="281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2075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Calibri"/>
              </a:rPr>
              <a:t>PROBLEM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4231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10M dataset: several minutes
50M dataset: 30+ minutes
Iterative debugging is slow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3840480"/>
            <a:ext cx="3383280" cy="320040"/>
          </a:xfrm>
          <a:prstGeom prst="rect">
            <a:avLst/>
          </a:prstGeom>
          <a:solidFill>
            <a:srgbClr val="053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AFF91"/>
                </a:solidFill>
                <a:latin typeface="Calibri"/>
              </a:rPr>
              <a:t>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8"/>
                </a:solidFill>
                <a:latin typeface="Calibri"/>
              </a:rPr>
              <a:t>Fixed random seed for reproducibility.
Tested on small subset first.
Batch processing approach.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0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These challenges emphasize why STOMP's algorithmic innovation is so impactful — efficient algorithms enable what was previously impractical.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Insights from the replication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57784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64008" cy="2423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475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6303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Algorithmic
Innovation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Mathematical efficiency has profound practical impact. O(n²) vs O(n·m²) enables applications previously thought impossible at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57784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4008" cy="2423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146303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4475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46303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GPU Acceleration
is Significant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9456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15-20× speedup enables 100M+ datapoint analysis. Platform choice is as important as algorithm choice in practice.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557784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977639"/>
            <a:ext cx="64008" cy="2423160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1422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605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Reproducibility
is Essential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Fixed seeds, pinned dependencies, clear documentation — these ensure others can verify and build upon your work.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977639"/>
            <a:ext cx="557784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977639"/>
            <a:ext cx="64008" cy="2423160"/>
          </a:xfrm>
          <a:prstGeom prst="rect">
            <a:avLst/>
          </a:prstGeom>
          <a:solidFill>
            <a:srgbClr val="0AB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160520"/>
            <a:ext cx="502920" cy="502920"/>
          </a:xfrm>
          <a:prstGeom prst="ellipse">
            <a:avLst/>
          </a:prstGeom>
          <a:solidFill>
            <a:srgbClr val="0AB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422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1605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Scaling Analysis
is Complex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892040"/>
            <a:ext cx="5257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System effects (cache, memory bandwidth) matter at scale. Theoretical complexity may differ from practice at extremes.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0"/>
            <a:ext cx="6400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498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E8"/>
                </a:solidFill>
                <a:latin typeface="Calibri"/>
              </a:rPr>
              <a:t>Summary and Impact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371600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371600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Successfully replicated STOMP algorithm behavior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011679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011679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Verified O(n²) time complexity scaling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2651759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63347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651759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Demonstrated on Python/CPU with modern tools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" y="3291839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27355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91839"/>
            <a:ext cx="7223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Reproducible methodology with fixed seeds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1188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E8"/>
                </a:solidFill>
                <a:latin typeface="Calibri"/>
              </a:rPr>
              <a:t>Paper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1691640"/>
            <a:ext cx="3200400" cy="1325880"/>
          </a:xfrm>
          <a:prstGeom prst="rect">
            <a:avLst/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1691640"/>
            <a:ext cx="3200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180136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28090"/>
                </a:solidFill>
                <a:latin typeface="Calibri"/>
              </a:rPr>
              <a:t>100M+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35000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datapoints accessible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3200400"/>
            <a:ext cx="3200400" cy="1325880"/>
          </a:xfrm>
          <a:prstGeom prst="rect">
            <a:avLst/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41080" y="3200400"/>
            <a:ext cx="32004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31012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C3AED"/>
                </a:solidFill>
                <a:latin typeface="Calibri"/>
              </a:rPr>
              <a:t>Foundation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85876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for modern TS machine learning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4709160"/>
            <a:ext cx="3200400" cy="1325880"/>
          </a:xfrm>
          <a:prstGeom prst="rect">
            <a:avLst/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41080" y="4709160"/>
            <a:ext cx="3200400" cy="54864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81888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7B00"/>
                </a:solidFill>
                <a:latin typeface="Calibri"/>
              </a:rPr>
              <a:t>Active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36752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influence into the 2020s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160520"/>
            <a:ext cx="7818120" cy="1920240"/>
          </a:xfrm>
          <a:prstGeom prst="rect">
            <a:avLst/>
          </a:prstGeom>
          <a:solidFill>
            <a:srgbClr val="04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4160520"/>
            <a:ext cx="64008" cy="1920240"/>
          </a:xfrm>
          <a:prstGeom prst="rect">
            <a:avLst/>
          </a:prstGeom>
          <a:solidFill>
            <a:srgbClr val="FF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25196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B00"/>
                </a:solidFill>
                <a:latin typeface="Calibri"/>
              </a:rPr>
              <a:t>Future Directions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663440"/>
            <a:ext cx="7406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→  GPU implementation to replicate original 100M+ benchmark exactly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120640"/>
            <a:ext cx="7406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→  Test multiple subsequence lengths to verify m-independence empirically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577840"/>
            <a:ext cx="7406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8"/>
                </a:solidFill>
                <a:latin typeface="Calibri"/>
              </a:rPr>
              <a:t>→  Extend to 1B datapoints with distributed computing (Dask/Spark)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309360"/>
            <a:ext cx="7818120" cy="4114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309360"/>
            <a:ext cx="7818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