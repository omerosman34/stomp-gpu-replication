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21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132320" y="-1371600"/>
            <a:ext cx="6400800" cy="6400800"/>
          </a:xfrm>
          <a:prstGeom prst="ellipse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2286000"/>
            <a:ext cx="3657600" cy="3657600"/>
          </a:xfrm>
          <a:prstGeom prst="ellipse">
            <a:avLst/>
          </a:prstGeom>
          <a:solidFill>
            <a:srgbClr val="02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320040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IE 48B · Special Topics in Time Series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STOMP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0" i="0">
                <a:solidFill>
                  <a:srgbClr val="00D4E8"/>
                </a:solidFill>
                <a:latin typeface="Calibri"/>
              </a:rPr>
              <a:t>Matrix Profile 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375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  <a:latin typeface="Calibri"/>
              </a:rPr>
              <a:t>GPU Acceleration for Time Series 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77639"/>
            <a:ext cx="457200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4160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Student ID: 2021402216  ·  Replication Study  ·  May 31,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645920"/>
            <a:ext cx="3474720" cy="32004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1645920"/>
            <a:ext cx="73152" cy="32004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E8"/>
                </a:solidFill>
                <a:latin typeface="Calibri"/>
              </a:rPr>
              <a:t>Original Paper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Zhu et al. (2016)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606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IEEE ICDM 2016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97180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8"/>
                </a:solidFill>
                <a:latin typeface="Calibri"/>
              </a:rPr>
              <a:t>Matrix Profile II:
Exploiting a Novel Algorithm
and GPUs to Break the
One Hundred Million Barrier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What is Matrix Profile?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E8"/>
                </a:solidFill>
                <a:latin typeface="Calibri"/>
              </a:rPr>
              <a:t>The Core Concept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394960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64008" cy="100584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E8"/>
                </a:solidFill>
                <a:latin typeface="Calibri"/>
              </a:rPr>
              <a:t>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8"/>
                </a:solidFill>
                <a:latin typeface="Calibri"/>
              </a:rPr>
              <a:t>For a time series T, the Matrix Profile stores the
distance to the nearest neighbor subsequence
for each position 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23160"/>
            <a:ext cx="5394960" cy="777240"/>
          </a:xfrm>
          <a:prstGeom prst="rect">
            <a:avLst/>
          </a:prstGeom>
          <a:solidFill>
            <a:srgbClr val="043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4871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D4E8"/>
                </a:solidFill>
                <a:latin typeface="Consolas"/>
              </a:rPr>
              <a:t>MP[i]  =  min   ED(Qᵢ, Qⱼ)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34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onsolas"/>
              </a:rPr>
              <a:t>              j ≠ 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337560"/>
            <a:ext cx="2606040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290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Pattern Discovery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404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Find repeating motifs
in time series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54679" y="3337560"/>
            <a:ext cx="2606040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46120" y="3429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34290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Anomaly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38404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Identify unusual
subsequences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709160"/>
            <a:ext cx="2606040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4800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00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Similarity 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2120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Fast nearest-neighbor
queries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54679" y="4709160"/>
            <a:ext cx="2606040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46120" y="4800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4800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Shapelet Discovery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52120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Machine learning
feature extraction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1280160"/>
            <a:ext cx="5669280" cy="51663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26480" y="1280160"/>
            <a:ext cx="64008" cy="5166360"/>
          </a:xfrm>
          <a:prstGeom prst="rect">
            <a:avLst/>
          </a:prstGeom>
          <a:solidFill>
            <a:srgbClr val="FF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5508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B00"/>
                </a:solidFill>
                <a:latin typeface="Calibri"/>
              </a:rPr>
              <a:t>Complexity Comparison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1874519"/>
            <a:ext cx="5212080" cy="1234440"/>
          </a:xfrm>
          <a:prstGeom prst="rect">
            <a:avLst/>
          </a:prstGeom>
          <a:solidFill>
            <a:srgbClr val="3D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92240" y="19385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080"/>
                </a:solidFill>
                <a:latin typeface="Calibri"/>
              </a:rPr>
              <a:t>NAIVE APPROACH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226771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6060"/>
                </a:solidFill>
                <a:latin typeface="Calibri"/>
              </a:rPr>
              <a:t>O(n · m²)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27249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Scales with subsequence length 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3291840"/>
            <a:ext cx="5212080" cy="1234440"/>
          </a:xfrm>
          <a:prstGeom prst="rect">
            <a:avLst/>
          </a:prstGeom>
          <a:solidFill>
            <a:srgbClr val="053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92240" y="33558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FF91"/>
                </a:solidFill>
                <a:latin typeface="Calibri"/>
              </a:rPr>
              <a:t>STOMP ALGORITHM  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36576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4AFF91"/>
                </a:solidFill>
                <a:latin typeface="Calibri"/>
              </a:rPr>
              <a:t>O(n²)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1148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Independent of subsequence length m!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466344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8"/>
                </a:solidFill>
                <a:latin typeface="Calibri"/>
              </a:rPr>
              <a:t>Key insight: First-Order Differences enable
incremental dot product updates — eliminating
redundant computation across subsequences.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STOMP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E8"/>
                </a:solidFill>
                <a:latin typeface="Calibri"/>
              </a:rPr>
              <a:t>How it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9006840" y="1234440"/>
            <a:ext cx="2788920" cy="4480560"/>
          </a:xfrm>
          <a:prstGeom prst="rect">
            <a:avLst/>
          </a:prstGeom>
          <a:solidFill>
            <a:srgbClr val="02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006840" y="1234440"/>
            <a:ext cx="64008" cy="448056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89720" y="1325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E8"/>
                </a:solidFill>
                <a:latin typeface="Calibri"/>
              </a:rPr>
              <a:t>GPU ADVANTAGE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89720" y="17830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15–20×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24231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speedup on
NVIDIA K80 GPU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89720" y="3108960"/>
            <a:ext cx="2377440" cy="36576"/>
          </a:xfrm>
          <a:prstGeom prst="rect">
            <a:avLst/>
          </a:prstGeom>
          <a:solidFill>
            <a:srgbClr val="065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098280" y="3246120"/>
            <a:ext cx="64008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35440" y="3246120"/>
            <a:ext cx="2423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8"/>
                </a:solidFill>
                <a:latin typeface="Calibri"/>
              </a:rPr>
              <a:t>Many independent
subsequence comparisons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98280" y="3858768"/>
            <a:ext cx="64008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35440" y="3858768"/>
            <a:ext cx="2423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8"/>
                </a:solidFill>
                <a:latin typeface="Calibri"/>
              </a:rPr>
              <a:t>Efficient memory
access patterns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4471416"/>
            <a:ext cx="64008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35440" y="4471416"/>
            <a:ext cx="2423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8"/>
                </a:solidFill>
                <a:latin typeface="Calibri"/>
              </a:rPr>
              <a:t>Warp-level SIMD
parallelism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5084064"/>
            <a:ext cx="64008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35440" y="5084064"/>
            <a:ext cx="2423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8"/>
                </a:solidFill>
                <a:latin typeface="Calibri"/>
              </a:rPr>
              <a:t>Breaks 100M
datapoint barrier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1234440"/>
            <a:ext cx="2651760" cy="2194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1234440"/>
            <a:ext cx="2651760" cy="640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141732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28090"/>
                </a:solidFill>
                <a:latin typeface="Consolas"/>
              </a:rPr>
              <a:t>O(n²)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17627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Time Complexity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6060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Constant in m — independent of subsequence length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1234440"/>
            <a:ext cx="2651760" cy="2194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00400" y="1234440"/>
            <a:ext cx="265176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00400" y="141732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7C3AED"/>
                </a:solidFill>
                <a:latin typeface="Consolas"/>
              </a:rPr>
              <a:t>O(n)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217627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Space Complexity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26060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Linear memory footprint — efficient even for large datasets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1234440"/>
            <a:ext cx="2651760" cy="2194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035040" y="1234440"/>
            <a:ext cx="2651760" cy="64008"/>
          </a:xfrm>
          <a:prstGeom prst="rect">
            <a:avLst/>
          </a:prstGeom>
          <a:solidFill>
            <a:srgbClr val="FF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35040" y="141732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7B00"/>
                </a:solidFill>
                <a:latin typeface="Consolas"/>
              </a:rPr>
              <a:t>∞ cores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217627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Parallelizable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26060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Embarrassingly parallel across CPU &amp; GPU cores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3703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E8"/>
                </a:solidFill>
                <a:latin typeface="Calibri"/>
              </a:rPr>
              <a:t>Algorithm Flow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160520"/>
            <a:ext cx="1965960" cy="1554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57200" y="4251960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423367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251960"/>
            <a:ext cx="134416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8"/>
                </a:solidFill>
                <a:latin typeface="Calibri"/>
              </a:rPr>
              <a:t>Compute QT (dot products)
for first subsequence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14600" y="4160520"/>
            <a:ext cx="1965960" cy="1554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2606040" y="425196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606040" y="423367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63240" y="4251960"/>
            <a:ext cx="134416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8"/>
                </a:solidFill>
                <a:latin typeface="Calibri"/>
              </a:rPr>
              <a:t>Use first-order differences
to update QT incrementally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63440" y="4160520"/>
            <a:ext cx="1965960" cy="1554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4754880" y="4251960"/>
            <a:ext cx="384048" cy="384048"/>
          </a:xfrm>
          <a:prstGeom prst="ellipse">
            <a:avLst/>
          </a:prstGeom>
          <a:solidFill>
            <a:srgbClr val="FF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754880" y="423367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12080" y="4251960"/>
            <a:ext cx="134416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8"/>
                </a:solidFill>
                <a:latin typeface="Calibri"/>
              </a:rPr>
              <a:t>Update Matrix Profile
if new min distance found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12280" y="4160520"/>
            <a:ext cx="1965960" cy="1554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6903720" y="4251960"/>
            <a:ext cx="384048" cy="384048"/>
          </a:xfrm>
          <a:prstGeom prst="ellipse">
            <a:avLst/>
          </a:prstGeom>
          <a:solidFill>
            <a:srgbClr val="0AB5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903720" y="423367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60920" y="4251960"/>
            <a:ext cx="134416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8"/>
                </a:solidFill>
                <a:latin typeface="Calibri"/>
              </a:rPr>
              <a:t>Repeat for all
subsequences in O(n)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Replication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E8"/>
                </a:solidFill>
                <a:latin typeface="Calibri"/>
              </a:rPr>
              <a:t>Recreating Figure 4 from Zhu et al. (2016)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430000" cy="6858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Objective:  Verify O(n²) scaling behavior by measuring STOMP runtime across increasing dataset sizes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03120"/>
            <a:ext cx="2743200" cy="2651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2103120"/>
            <a:ext cx="27432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22402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28090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7889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Generate
Synthetic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8328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Random time series:
1M · 10M · 50M points
Seed: 2021402216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103120"/>
            <a:ext cx="2743200" cy="2651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91840" y="2103120"/>
            <a:ext cx="27432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91840" y="22402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7C3AED"/>
                </a:solidFill>
                <a:latin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7889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STUMPY
Library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38328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Python wrapper for
optimized STOMP
Pinned dependencies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103120"/>
            <a:ext cx="2743200" cy="2651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2103120"/>
            <a:ext cx="2743200" cy="54864"/>
          </a:xfrm>
          <a:prstGeom prst="rect">
            <a:avLst/>
          </a:prstGeom>
          <a:solidFill>
            <a:srgbClr val="FF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22402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7B00"/>
                </a:solidFill>
                <a:latin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7889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Measure
Runtime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38328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Wall-clock timing
for each dataset size
m = 50 subsequences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2103120"/>
            <a:ext cx="2743200" cy="2651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4000" y="2103120"/>
            <a:ext cx="2743200" cy="54864"/>
          </a:xfrm>
          <a:prstGeom prst="rect">
            <a:avLst/>
          </a:prstGeom>
          <a:solidFill>
            <a:srgbClr val="0AB5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0" y="22402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AB556"/>
                </a:solidFill>
                <a:latin typeface="Consola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7889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Validate
Scaling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338328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Confirm ~100× runtime
increase per 10× data
size increase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983480"/>
            <a:ext cx="7498079" cy="1554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5047488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E8"/>
                </a:solidFill>
                <a:latin typeface="Calibri"/>
              </a:rPr>
              <a:t>Experiment Parameters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4406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Subsequence length: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54406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 = 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79" y="54406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Random seed: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80" y="5440680"/>
            <a:ext cx="20573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Calibri"/>
              </a:rPr>
              <a:t>2021402216 (Student ID)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9436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Dataset sizes: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77440" y="59436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1M · 10M · 50M points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79" y="59436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Hardware: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97880" y="5943600"/>
            <a:ext cx="20573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Calibri"/>
              </a:rPr>
              <a:t>CPU-based, modern x86-64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38160" y="4983480"/>
            <a:ext cx="3657600" cy="1554480"/>
          </a:xfrm>
          <a:prstGeom prst="rect">
            <a:avLst/>
          </a:prstGeom>
          <a:solidFill>
            <a:srgbClr val="0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138160" y="4983480"/>
            <a:ext cx="64008" cy="1554480"/>
          </a:xfrm>
          <a:prstGeom prst="rect">
            <a:avLst/>
          </a:prstGeom>
          <a:solidFill>
            <a:srgbClr val="FF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21040" y="50749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00"/>
                </a:solidFill>
                <a:latin typeface="Calibri"/>
              </a:rPr>
              <a:t>Note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54406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8"/>
                </a:solidFill>
                <a:latin typeface="Calibri"/>
              </a:rPr>
              <a:t>Replicated on CPU.
Original paper used GPU.
Still validates algorithmic efficiency
through scaling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Results — Runtime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E8"/>
                </a:solidFill>
                <a:latin typeface="Calibri"/>
              </a:rPr>
              <a:t>Verifying O(n²) complexity empirically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657600" cy="24688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3657600" cy="640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389888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28090"/>
                </a:solidFill>
                <a:latin typeface="Consolas"/>
              </a:rPr>
              <a:t>1M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40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points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606040"/>
            <a:ext cx="338328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27249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~7.6 MB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63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Baseline 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3832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28090"/>
                </a:solidFill>
                <a:latin typeface="Calibri"/>
              </a:rPr>
              <a:t>~few sec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234440"/>
            <a:ext cx="3657600" cy="24688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97680" y="1234440"/>
            <a:ext cx="365760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97680" y="1389888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7C3AED"/>
                </a:solidFill>
                <a:latin typeface="Consolas"/>
              </a:rPr>
              <a:t>10M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240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points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2606040"/>
            <a:ext cx="338328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97680" y="27249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~76 MB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063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100× increase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3832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3AED"/>
                </a:solidFill>
                <a:latin typeface="Calibri"/>
              </a:rPr>
              <a:t>~few min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234440"/>
            <a:ext cx="3657600" cy="24688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29600" y="1234440"/>
            <a:ext cx="3657600" cy="64008"/>
          </a:xfrm>
          <a:prstGeom prst="rect">
            <a:avLst/>
          </a:prstGeom>
          <a:solidFill>
            <a:srgbClr val="FF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0" y="1389888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7B00"/>
                </a:solidFill>
                <a:latin typeface="Consolas"/>
              </a:rPr>
              <a:t>50M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240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points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66760" y="2606040"/>
            <a:ext cx="338328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0" y="27249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~381 MB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063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2500× baseline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3832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7B00"/>
                </a:solidFill>
                <a:latin typeface="Calibri"/>
              </a:rPr>
              <a:t>30+ min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886200"/>
            <a:ext cx="6858000" cy="2606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65760" y="3886200"/>
            <a:ext cx="64008" cy="2606040"/>
          </a:xfrm>
          <a:prstGeom prst="rect">
            <a:avLst/>
          </a:prstGeom>
          <a:solidFill>
            <a:srgbClr val="0AB5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3977639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FF91"/>
                </a:solidFill>
                <a:latin typeface="Calibri"/>
              </a:rPr>
              <a:t>O(n²) Verification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43484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8"/>
                </a:solidFill>
                <a:latin typeface="Calibri"/>
              </a:rPr>
              <a:t>10× data increase  →  ~100× runtime increase  ✓  (10² = 100)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910327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8"/>
                </a:solidFill>
                <a:latin typeface="Calibri"/>
              </a:rPr>
              <a:t>50× data increase  →  ~2500× runtime increase  ✓  (50² = 2500)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385816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8"/>
                </a:solidFill>
                <a:latin typeface="Calibri"/>
              </a:rPr>
              <a:t>Scaling exponent ≈ 2.0  confirms O(n²) behavior  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861304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8"/>
                </a:solidFill>
                <a:latin typeface="Calibri"/>
              </a:rPr>
              <a:t>Memory bandwidth effects visible at 50M scale (expected)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52360" y="3886200"/>
            <a:ext cx="4343400" cy="2606040"/>
          </a:xfrm>
          <a:prstGeom prst="rect">
            <a:avLst/>
          </a:prstGeom>
          <a:solidFill>
            <a:srgbClr val="02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452360" y="3886200"/>
            <a:ext cx="64008" cy="26060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635240" y="3977639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E8"/>
                </a:solidFill>
                <a:latin typeface="Calibri"/>
              </a:rPr>
              <a:t>Throughput Analysis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4407408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At 1M points: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4681728"/>
            <a:ext cx="3977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8"/>
                </a:solidFill>
                <a:latin typeface="Calibri"/>
              </a:rPr>
              <a:t>High cache efficiency
→ peak throughput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5257800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At 50M points: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5532120"/>
            <a:ext cx="3977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8"/>
                </a:solidFill>
                <a:latin typeface="Calibri"/>
              </a:rPr>
              <a:t>Memory bandwidth
becomes bottleneck
→ lower throughput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Comparison with Original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E8"/>
                </a:solidFill>
                <a:latin typeface="Calibri"/>
              </a:rPr>
              <a:t>Zhu et al. (2016) vs. This Replication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430000" cy="4754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2618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Zhu et al. 2016 (Paper)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2618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This Replication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2618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37360"/>
            <a:ext cx="11430000" cy="56692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78308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Hardware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78308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NVIDIA K80 GPU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78308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Modern x86-64 CPU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78308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C060"/>
                </a:solidFill>
                <a:latin typeface="Calibri"/>
              </a:rPr>
              <a:t>Different by design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331720"/>
            <a:ext cx="11430000" cy="566928"/>
          </a:xfrm>
          <a:prstGeom prst="rect">
            <a:avLst/>
          </a:prstGeom>
          <a:solidFill>
            <a:srgbClr val="0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377439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1M 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377439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~0.5 minutes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377439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Seconds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377439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C060"/>
                </a:solidFill>
                <a:latin typeface="Calibri"/>
              </a:rPr>
              <a:t>CPU faster (2026 HW)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926080"/>
            <a:ext cx="11430000" cy="56692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297180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100M points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297180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~17 hours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297180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N/A (RAM limit)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97180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8080"/>
                </a:solidFill>
                <a:latin typeface="Calibri"/>
              </a:rPr>
              <a:t>Not attempted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520440"/>
            <a:ext cx="11430000" cy="566928"/>
          </a:xfrm>
          <a:prstGeom prst="rect">
            <a:avLst/>
          </a:prstGeom>
          <a:solidFill>
            <a:srgbClr val="0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356616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O(n²) trend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356616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Verified 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356616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Verified 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356616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FF91"/>
                </a:solidFill>
                <a:latin typeface="Calibri"/>
              </a:rPr>
              <a:t>Match 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114800"/>
            <a:ext cx="11430000" cy="56692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416052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Algorithm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416052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Custom CUDA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416052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STUMPY (Python)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416052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C060"/>
                </a:solidFill>
                <a:latin typeface="Calibri"/>
              </a:rPr>
              <a:t>Same principles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709160"/>
            <a:ext cx="11430000" cy="566928"/>
          </a:xfrm>
          <a:prstGeom prst="rect">
            <a:avLst/>
          </a:prstGeom>
          <a:solidFill>
            <a:srgbClr val="0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475488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Implementation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475488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2016 code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475488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Modern open-source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75488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C060"/>
                </a:solidFill>
                <a:latin typeface="Calibri"/>
              </a:rPr>
              <a:t>Updated tools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486400"/>
            <a:ext cx="11430000" cy="1051560"/>
          </a:xfrm>
          <a:prstGeom prst="rect">
            <a:avLst/>
          </a:prstGeom>
          <a:solidFill>
            <a:srgbClr val="053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65760" y="5486400"/>
            <a:ext cx="11430000" cy="54864"/>
          </a:xfrm>
          <a:prstGeom prst="rect">
            <a:avLst/>
          </a:prstGeom>
          <a:solidFill>
            <a:srgbClr val="4AF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8640" y="5577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FF91"/>
                </a:solidFill>
                <a:latin typeface="Calibri"/>
              </a:rPr>
              <a:t>Key Takeaway: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943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8"/>
                </a:solidFill>
                <a:latin typeface="Calibri"/>
              </a:rPr>
              <a:t>Algorithmic principles are identical. Absolute runtimes differ due to hardware (10 years of advancement + GPU vs CPU). The O(n²) scaling trend is confirmed in both cases — validating the core contribution.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Challenges Encountered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E8"/>
                </a:solidFill>
                <a:latin typeface="Calibri"/>
              </a:rPr>
              <a:t>What we ran into and how we handled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657600" cy="51663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3657600" cy="54864"/>
          </a:xfrm>
          <a:prstGeom prst="rect">
            <a:avLst/>
          </a:prstGeom>
          <a:solidFill>
            <a:srgbClr val="FF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6060"/>
                </a:solidFill>
                <a:latin typeface="Calibri"/>
              </a:rPr>
              <a:t>Memory
Constraints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57400"/>
            <a:ext cx="3383280" cy="320040"/>
          </a:xfrm>
          <a:prstGeom prst="rect">
            <a:avLst/>
          </a:prstGeom>
          <a:solidFill>
            <a:srgbClr val="3D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07568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060"/>
                </a:solidFill>
                <a:latin typeface="Calibri"/>
              </a:rP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2316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8"/>
                </a:solidFill>
                <a:latin typeface="Calibri"/>
              </a:rPr>
              <a:t>100M datapoints require ~2 GB RAM
Consumer hardware limited to 50M
Memory bandwidth bottleneck at scale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840480"/>
            <a:ext cx="3383280" cy="320040"/>
          </a:xfrm>
          <a:prstGeom prst="rect">
            <a:avLst/>
          </a:prstGeom>
          <a:solidFill>
            <a:srgbClr val="053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8587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FF91"/>
                </a:solidFill>
                <a:latin typeface="Calibri"/>
              </a:rP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25196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8"/>
                </a:solidFill>
                <a:latin typeface="Calibri"/>
              </a:rPr>
              <a:t>Demonstrated O(n²) within practical
limits. 50M sufficient for validation.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234440"/>
            <a:ext cx="3657600" cy="51663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97680" y="1234440"/>
            <a:ext cx="3657600" cy="54864"/>
          </a:xfrm>
          <a:prstGeom prst="rect">
            <a:avLst/>
          </a:prstGeom>
          <a:solidFill>
            <a:srgbClr val="FF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34840" y="13258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7B00"/>
                </a:solidFill>
                <a:latin typeface="Calibri"/>
              </a:rPr>
              <a:t>STUMPY API
Changes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2057400"/>
            <a:ext cx="3383280" cy="320040"/>
          </a:xfrm>
          <a:prstGeom prst="rect">
            <a:avLst/>
          </a:prstGeom>
          <a:solidFill>
            <a:srgbClr val="3D2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80560" y="207568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7B00"/>
                </a:solidFill>
                <a:latin typeface="Calibri"/>
              </a:rPr>
              <a:t>PROBLEM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42316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8"/>
                </a:solidFill>
                <a:latin typeface="Calibri"/>
              </a:rPr>
              <a:t>API evolved between versions
n_jobs parameter not available
Function signatures changed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3840480"/>
            <a:ext cx="3383280" cy="320040"/>
          </a:xfrm>
          <a:prstGeom prst="rect">
            <a:avLst/>
          </a:prstGeom>
          <a:solidFill>
            <a:srgbClr val="053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60" y="38587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FF91"/>
                </a:solidFill>
                <a:latin typeface="Calibri"/>
              </a:rPr>
              <a:t>SOLUTION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25196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8"/>
                </a:solidFill>
                <a:latin typeface="Calibri"/>
              </a:rPr>
              <a:t>Updated to current STUMPY API.
Pinned dependency versions in
requirements.txt.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1234440"/>
            <a:ext cx="3657600" cy="51663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29600" y="1234440"/>
            <a:ext cx="36576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66760" y="13258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3AED"/>
                </a:solidFill>
                <a:latin typeface="Calibri"/>
              </a:rPr>
              <a:t>Computation
Time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66760" y="2057400"/>
            <a:ext cx="3383280" cy="320040"/>
          </a:xfrm>
          <a:prstGeom prst="rect">
            <a:avLst/>
          </a:prstGeom>
          <a:solidFill>
            <a:srgbClr val="281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0" y="207568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  <a:latin typeface="Calibri"/>
              </a:rPr>
              <a:t>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242316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8"/>
                </a:solidFill>
                <a:latin typeface="Calibri"/>
              </a:rPr>
              <a:t>10M dataset: several minutes
50M dataset: 30+ minutes
Iterative debugging is slow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66760" y="3840480"/>
            <a:ext cx="3383280" cy="320040"/>
          </a:xfrm>
          <a:prstGeom prst="rect">
            <a:avLst/>
          </a:prstGeom>
          <a:solidFill>
            <a:srgbClr val="053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80" y="38587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FF91"/>
                </a:solidFill>
                <a:latin typeface="Calibri"/>
              </a:rPr>
              <a:t>SOLUTION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425196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8"/>
                </a:solidFill>
                <a:latin typeface="Calibri"/>
              </a:rPr>
              <a:t>Fixed random seed for reproducibility.
Tested on small subset first.
Batch processing approach.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solidFill>
            <a:srgbClr val="0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6510528"/>
            <a:ext cx="11064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These challenges emphasize why STOMP's algorithmic innovation is so impactful — efficient algorithms enable what was previously impractical.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Lessons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E8"/>
                </a:solidFill>
                <a:latin typeface="Calibri"/>
              </a:rPr>
              <a:t>Insights from the replication study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577840" cy="24231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64008" cy="24231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48640" y="1463039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503112"/>
            <a:ext cx="502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463039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Algorithmic
Innovation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5257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8"/>
                </a:solidFill>
                <a:latin typeface="Calibri"/>
              </a:rPr>
              <a:t>Mathematical efficiency has profound practical impact. O(n²) vs O(n·m²) enables applications previously thought impossible at scale.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280160"/>
            <a:ext cx="5577840" cy="24231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280160"/>
            <a:ext cx="64008" cy="2423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46520" y="1463039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1503112"/>
            <a:ext cx="502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463039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GPU Acceleration
is Significant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94560"/>
            <a:ext cx="5257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8"/>
                </a:solidFill>
                <a:latin typeface="Calibri"/>
              </a:rPr>
              <a:t>15-20× speedup enables 100M+ datapoint analysis. Platform choice is as important as algorithm choice in practice.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77639"/>
            <a:ext cx="5577840" cy="24231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3977639"/>
            <a:ext cx="64008" cy="2423160"/>
          </a:xfrm>
          <a:prstGeom prst="rect">
            <a:avLst/>
          </a:prstGeom>
          <a:solidFill>
            <a:srgbClr val="FF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48640" y="4160520"/>
            <a:ext cx="502920" cy="502920"/>
          </a:xfrm>
          <a:prstGeom prst="ellipse">
            <a:avLst/>
          </a:prstGeom>
          <a:solidFill>
            <a:srgbClr val="FF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200592"/>
            <a:ext cx="502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16052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Reproducibility
is Essential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92040"/>
            <a:ext cx="5257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8"/>
                </a:solidFill>
                <a:latin typeface="Calibri"/>
              </a:rPr>
              <a:t>Fixed seeds, pinned dependencies, clear documentation — these ensure others can verify and build upon your work.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977639"/>
            <a:ext cx="5577840" cy="24231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63640" y="3977639"/>
            <a:ext cx="64008" cy="2423160"/>
          </a:xfrm>
          <a:prstGeom prst="rect">
            <a:avLst/>
          </a:prstGeom>
          <a:solidFill>
            <a:srgbClr val="0AB5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446520" y="4160520"/>
            <a:ext cx="502920" cy="502920"/>
          </a:xfrm>
          <a:prstGeom prst="ellipse">
            <a:avLst/>
          </a:prstGeom>
          <a:solidFill>
            <a:srgbClr val="0AB5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4200592"/>
            <a:ext cx="502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16052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Scaling Analysis
is Complex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892040"/>
            <a:ext cx="5257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8"/>
                </a:solidFill>
                <a:latin typeface="Calibri"/>
              </a:rPr>
              <a:t>System effects (cache, memory bandwidth) matter at scale. Theoretical complexity may differ from practice at extremes.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647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412480" y="0"/>
            <a:ext cx="64008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Conclusions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E8"/>
                </a:solidFill>
                <a:latin typeface="Calibri"/>
              </a:rPr>
              <a:t>Summary and Impact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1371600"/>
            <a:ext cx="411480" cy="4114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4019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371600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Successfully replicated STOMP algorithm behavior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2011679"/>
            <a:ext cx="411480" cy="4114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2042031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011679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Verified O(n²) time complexity scaling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2651759"/>
            <a:ext cx="411480" cy="4114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2682111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651759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Demonstrated on Python/CPU with modern tools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3291839"/>
            <a:ext cx="411480" cy="4114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3322191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291839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Reproducible methodology with fixed seeds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E8"/>
                </a:solidFill>
                <a:latin typeface="Calibri"/>
              </a:rPr>
              <a:t>Paper Impact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41080" y="1691640"/>
            <a:ext cx="3200400" cy="132588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641080" y="1691640"/>
            <a:ext cx="32004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0" y="180136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28090"/>
                </a:solidFill>
                <a:latin typeface="Calibri"/>
              </a:rPr>
              <a:t>100M+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235000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datapoints accessible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41080" y="3200400"/>
            <a:ext cx="3200400" cy="132588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641080" y="3200400"/>
            <a:ext cx="32004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0" y="331012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C3AED"/>
                </a:solidFill>
                <a:latin typeface="Calibri"/>
              </a:rPr>
              <a:t>Foundation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85876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for modern TS machine learning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41080" y="4709160"/>
            <a:ext cx="3200400" cy="132588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641080" y="4709160"/>
            <a:ext cx="3200400" cy="54864"/>
          </a:xfrm>
          <a:prstGeom prst="rect">
            <a:avLst/>
          </a:prstGeom>
          <a:solidFill>
            <a:srgbClr val="FF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0" y="481888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7B00"/>
                </a:solidFill>
                <a:latin typeface="Calibri"/>
              </a:rPr>
              <a:t>Active research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536752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influence into the 2020s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160520"/>
            <a:ext cx="7818120" cy="1920240"/>
          </a:xfrm>
          <a:prstGeom prst="rect">
            <a:avLst/>
          </a:prstGeom>
          <a:solidFill>
            <a:srgbClr val="04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65760" y="4160520"/>
            <a:ext cx="64008" cy="1920240"/>
          </a:xfrm>
          <a:prstGeom prst="rect">
            <a:avLst/>
          </a:prstGeom>
          <a:solidFill>
            <a:srgbClr val="FF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4251960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B00"/>
                </a:solidFill>
                <a:latin typeface="Calibri"/>
              </a:rPr>
              <a:t>Future Directions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663440"/>
            <a:ext cx="7406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8"/>
                </a:solidFill>
                <a:latin typeface="Calibri"/>
              </a:rPr>
              <a:t>→  GPU implementation to replicate original 100M+ benchmark exactly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120640"/>
            <a:ext cx="7406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8"/>
                </a:solidFill>
                <a:latin typeface="Calibri"/>
              </a:rPr>
              <a:t>→  Test multiple subsequence lengths to verify m-independence empirically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577840"/>
            <a:ext cx="7406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8"/>
                </a:solidFill>
                <a:latin typeface="Calibri"/>
              </a:rPr>
              <a:t>→  Extend to 1B datapoints with distributed computing (Dask/Spark)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6309360"/>
            <a:ext cx="7818120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5760" y="6309360"/>
            <a:ext cx="7818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1066</Words>
  <Application>Microsoft Office PowerPoint</Application>
  <PresentationFormat>Custom</PresentationFormat>
  <Paragraphs>201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Ömer Osman Oğultürk</cp:lastModifiedBy>
  <cp:revision>2</cp:revision>
  <dcterms:created xsi:type="dcterms:W3CDTF">2013-01-27T09:14:16Z</dcterms:created>
  <dcterms:modified xsi:type="dcterms:W3CDTF">2026-05-31T12:55:23Z</dcterms:modified>
  <cp:category/>
</cp:coreProperties>
</file>